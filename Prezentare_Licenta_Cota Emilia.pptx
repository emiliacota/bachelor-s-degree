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Țesut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E8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2E5-4B36-8547-AEDEE0A100D4}"/>
              </c:ext>
            </c:extLst>
          </c:dPt>
          <c:dPt>
            <c:idx val="1"/>
            <c:bubble3D val="0"/>
            <c:spPr>
              <a:solidFill>
                <a:srgbClr val="E0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2E5-4B36-8547-AEDEE0A100D4}"/>
              </c:ext>
            </c:extLst>
          </c:dPt>
          <c:dPt>
            <c:idx val="2"/>
            <c:bubble3D val="0"/>
            <c:spPr>
              <a:solidFill>
                <a:srgbClr val="8B6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2E5-4B36-8547-AEDEE0A100D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2E5-4B36-8547-AEDEE0A100D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2E5-4B36-8547-AEDEE0A100D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2E5-4B36-8547-AEDEE0A100D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Verde (sănătos)</c:v>
                </c:pt>
                <c:pt idx="1">
                  <c:v>Galben (stresat)</c:v>
                </c:pt>
                <c:pt idx="2">
                  <c:v>Maro (uscat)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87.12</c:v>
                </c:pt>
                <c:pt idx="1">
                  <c:v>6.33</c:v>
                </c:pt>
                <c:pt idx="2">
                  <c:v>6.55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2E5-4B36-8547-AEDEE0A100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16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7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10" Type="http://schemas.openxmlformats.org/officeDocument/2006/relationships/image" Target="../media/image23.jpeg"/><Relationship Id="rId4" Type="http://schemas.openxmlformats.org/officeDocument/2006/relationships/image" Target="../media/image5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30.jp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234A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234A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proj/icons/univers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UNIVERSITATEA TEHNICĂ „GHEORGHE ASACHI” DIN IAȘI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430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Facultatea de Electronică, Telecomunicații și Tehnologia Informației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85800" y="233172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proj/icons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514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3159351"/>
            <a:ext cx="9692640" cy="250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embedded de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monitorizare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plantelor</a:t>
            </a:r>
            <a:r>
              <a:rPr lang="ro-RO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pt-BR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 analiza parametrilor de mediu și procesare de imagini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11" name="Shape 7"/>
          <p:cNvSpPr/>
          <p:nvPr/>
        </p:nvSpPr>
        <p:spPr>
          <a:xfrm>
            <a:off x="658368" y="5074920"/>
            <a:ext cx="2926080" cy="0"/>
          </a:xfrm>
          <a:prstGeom prst="line">
            <a:avLst/>
          </a:prstGeom>
          <a:noFill/>
          <a:ln w="12700">
            <a:solidFill>
              <a:srgbClr val="3C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58368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Absolvent: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Coța Emilia Elena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8368" y="5669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Coordonator științific: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 Dr. Ing. Zbancioc Marius-Dan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8368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 de diplomă  •  Iași,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CUPRINS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 prezentării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roj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22091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1828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E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0391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Introducere &amp; obiective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828800" y="240487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Motivație, context IoT și scopul proiectului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169164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83680" y="201168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proj/icons/lay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190" y="220919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27080" y="1828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E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589520" y="20391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Arhitectura sistemului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589520" y="240487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trei niveluri funcționale ale soluției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2960" y="37490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proj/icons/microchi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394655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66360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E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828800" y="37764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schemă electrică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1828800" y="41422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ESP32, senzori, schema de interconectare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309360" y="342900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583680" y="37490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/home/claude/proj/icons/broadcas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190" y="3946550"/>
            <a:ext cx="427939" cy="42793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27080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E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589520" y="37764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Comunicație &amp; Node-RED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589520" y="41422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Arduino, MQTT, middleware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516636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822960" y="548640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/home/claude/proj/icons/palett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70" y="5683910"/>
            <a:ext cx="427939" cy="42793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66360" y="5303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E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1828800" y="55138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Procesare de imagini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1828800" y="587959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Segmentare K-means în MATLAB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309360" y="516636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6583680" y="548640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/home/claude/proj/icons/desktop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1190" y="5683910"/>
            <a:ext cx="427939" cy="427939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927080" y="5303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E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7589520" y="55138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Dashboard, testare &amp; concluzii</a:t>
            </a:r>
            <a:endParaRPr lang="en-US" sz="1550" dirty="0"/>
          </a:p>
        </p:txBody>
      </p:sp>
      <p:sp>
        <p:nvSpPr>
          <p:cNvPr id="39" name="Text 31"/>
          <p:cNvSpPr/>
          <p:nvPr/>
        </p:nvSpPr>
        <p:spPr>
          <a:xfrm>
            <a:off x="7589520" y="587959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Interfață, rezultate, direcții viitoare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 monitorizare inteligentă a plantelor?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Metodele tradiționale de îngrijire a plantelor se bazează pe observație manuală și îngrijire periodică — o abordare inconsecventă, care reacționează târziu la schimbările de microclimat și poate duce la deteriorarea rapidă a plantei.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roj/icons/wif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054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2871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mld.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261872" y="33101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dispozitive IoT conectate estimate la nivel global până în 2030 (Cisco, 2023)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404164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proj/icons/char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16966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39867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&gt;90%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1261872" y="442569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acuratețe raportată pentru sistemele IoT + procesare de imagini în detecția timpurie a stresului hidric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5257800"/>
            <a:ext cx="6492240" cy="1051560"/>
          </a:xfrm>
          <a:prstGeom prst="roundRect">
            <a:avLst>
              <a:gd name="adj" fmla="val 7826"/>
            </a:avLst>
          </a:prstGeom>
          <a:solidFill>
            <a:srgbClr val="EAF3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49808" y="534924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Motivație:  </a:t>
            </a:r>
            <a:r>
              <a:rPr lang="en-US" sz="1150" dirty="0" err="1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Proiectul</a:t>
            </a:r>
            <a:r>
              <a:rPr lang="en-US" sz="11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elimină dependența de platformele comerciale închise și costisitoare, propunând o arhitectură open-source care combină date senzoriale cu analiză vizuală — o </a:t>
            </a:r>
            <a:r>
              <a:rPr lang="en-US" sz="1150" dirty="0" err="1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abordare</a:t>
            </a:r>
            <a:r>
              <a:rPr lang="en-US" sz="11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hibridă</a:t>
            </a:r>
            <a:r>
              <a:rPr lang="en-US" sz="11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și accesibilă.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406640" y="1463040"/>
            <a:ext cx="4251960" cy="4846320"/>
          </a:xfrm>
          <a:prstGeom prst="roundRect">
            <a:avLst>
              <a:gd name="adj" fmla="val 2151"/>
            </a:avLst>
          </a:prstGeom>
          <a:solidFill>
            <a:srgbClr val="1B3B1E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772400" y="182880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proj/icons/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1984248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1938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Soluția propusă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7772400" y="26974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 embedded hibrid, open-source, care combină achiziția senzorială de mediu cu analiza vizuală a stării foliare, oferind diagnostic complet și recomandări în timp real.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818120" y="3959352"/>
            <a:ext cx="100584" cy="100584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046720" y="3840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+ 3 senzori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818120" y="4434840"/>
            <a:ext cx="100584" cy="100584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8046720" y="4315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/ Mosquitto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7818120" y="4910328"/>
            <a:ext cx="100584" cy="100584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8046720" y="47914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· K-means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7818120" y="5385816"/>
            <a:ext cx="100584" cy="100584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8046720" y="52669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dashboard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Obiectivele lucrării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0048" cy="41605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013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E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proj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5328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461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Calibrare hardware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93192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Configurarea și calibrarea senzorilor DHT22, senzor capacitiv de sol și BH1750.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1600200"/>
            <a:ext cx="2670048" cy="41605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48456" y="18013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E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648456" y="237744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proj/icons/broadcas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53288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48456" y="32461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Comunicație ESP32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648456" y="393192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Transmisie asincronă a datelor prin protocolul MQTT către brokerul Mosquitto.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91072" y="1600200"/>
            <a:ext cx="2670048" cy="41605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519672" y="18013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E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519672" y="237744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proj/icons/palett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53288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19672" y="32461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Segmentare MATLAB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519672" y="393192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Implementarea algoritmului K-means pentru clasificarea cromatică a țesutului foliar.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62288" y="1600200"/>
            <a:ext cx="2670048" cy="41605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9390888" y="18013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E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9390888" y="237744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/home/claude/proj/icons/balanc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6336" y="253288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90888" y="32461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Logică de decizie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390888" y="393192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Dezvoltarea algoritmului ierarhic de decizie și a recomandărilor în Node-RED.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ARHITECTURĂ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Arhitectura pe trei niveluri a sistemului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600200"/>
            <a:ext cx="9692640" cy="1298448"/>
          </a:xfrm>
          <a:prstGeom prst="roundRect">
            <a:avLst>
              <a:gd name="adj" fmla="val 7042"/>
            </a:avLst>
          </a:prstGeom>
          <a:solidFill>
            <a:srgbClr val="2C5F2D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00200" y="1860804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roj/icons/seedlin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648" y="2016252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1801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de percepție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74320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· Senzor capacitiv sol · BH1750</a:t>
            </a:r>
            <a:endParaRPr lang="en-US" sz="1300" dirty="0"/>
          </a:p>
        </p:txBody>
      </p:sp>
      <p:pic>
        <p:nvPicPr>
          <p:cNvPr id="9" name="Image 1" descr="/home/claude/proj/icons/arrow_right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961888" y="2926080"/>
            <a:ext cx="329184" cy="3291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280160" y="3282696"/>
            <a:ext cx="9692640" cy="1298448"/>
          </a:xfrm>
          <a:prstGeom prst="roundRect">
            <a:avLst>
              <a:gd name="adj" fmla="val 7042"/>
            </a:avLst>
          </a:prstGeom>
          <a:solidFill>
            <a:srgbClr val="5A9E4A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600200" y="35433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proj/icons/microchip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648" y="3698748"/>
            <a:ext cx="466344" cy="4663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43200" y="348386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Procesare</a:t>
            </a: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o-RO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și</a:t>
            </a: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rețea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2743200" y="396849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 →  Wi-Fi  →  MQTT  →  Mosquitto</a:t>
            </a:r>
            <a:endParaRPr lang="en-US" sz="1300" dirty="0"/>
          </a:p>
        </p:txBody>
      </p:sp>
      <p:pic>
        <p:nvPicPr>
          <p:cNvPr id="15" name="Image 3" descr="/home/claude/proj/icons/arrow_right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961888" y="4608576"/>
            <a:ext cx="329184" cy="32918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280160" y="4965192"/>
            <a:ext cx="9692640" cy="1298448"/>
          </a:xfrm>
          <a:prstGeom prst="roundRect">
            <a:avLst>
              <a:gd name="adj" fmla="val 7042"/>
            </a:avLst>
          </a:prstGeom>
          <a:solidFill>
            <a:srgbClr val="6FA85A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1600200" y="5225796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/home/claude/proj/icons/desktop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648" y="5381244"/>
            <a:ext cx="466344" cy="4663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743200" y="5166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Nivelul aplicației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2743200" y="56509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(decizie + dashboard)  +  MATLAB (K-means)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HARDWARE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Nodul central și rețeaua de senzori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15184" cy="397764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755648"/>
            <a:ext cx="2212848" cy="1417320"/>
          </a:xfrm>
          <a:prstGeom prst="roundRect">
            <a:avLst>
              <a:gd name="adj" fmla="val 4516"/>
            </a:avLst>
          </a:prstGeom>
          <a:solidFill>
            <a:srgbClr val="F2F6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roj/images/img-01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2688" y="1865376"/>
            <a:ext cx="1847088" cy="12070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" y="3328416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proj/icons/microchi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43814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34670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49808" y="38404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Unitate centrală</a:t>
            </a:r>
            <a:endParaRPr lang="en-US" sz="980" dirty="0"/>
          </a:p>
        </p:txBody>
      </p:sp>
      <p:sp>
        <p:nvSpPr>
          <p:cNvPr id="11" name="Shape 7"/>
          <p:cNvSpPr/>
          <p:nvPr/>
        </p:nvSpPr>
        <p:spPr>
          <a:xfrm>
            <a:off x="749808" y="4169664"/>
            <a:ext cx="2212848" cy="0"/>
          </a:xfrm>
          <a:prstGeom prst="line">
            <a:avLst/>
          </a:prstGeom>
          <a:noFill/>
          <a:ln w="12700">
            <a:solidFill>
              <a:srgbClr val="DCE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49808" y="42793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· Wi-Fi + BT · GPIO/ADC</a:t>
            </a:r>
            <a:endParaRPr lang="en-US" sz="980" dirty="0"/>
          </a:p>
        </p:txBody>
      </p:sp>
      <p:sp>
        <p:nvSpPr>
          <p:cNvPr id="13" name="Shape 9"/>
          <p:cNvSpPr/>
          <p:nvPr/>
        </p:nvSpPr>
        <p:spPr>
          <a:xfrm>
            <a:off x="3364992" y="1554480"/>
            <a:ext cx="2615184" cy="397764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566160" y="1755648"/>
            <a:ext cx="2212848" cy="1417320"/>
          </a:xfrm>
          <a:prstGeom prst="roundRect">
            <a:avLst>
              <a:gd name="adj" fmla="val 4516"/>
            </a:avLst>
          </a:prstGeom>
          <a:solidFill>
            <a:srgbClr val="F2F6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proj/images/img-012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49040" y="1865376"/>
            <a:ext cx="1847088" cy="12070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566160" y="3328416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proj/icons/therm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343814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42232" y="334670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DHT22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3566160" y="38404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&amp; umiditate aer</a:t>
            </a:r>
            <a:endParaRPr lang="en-US" sz="980" dirty="0"/>
          </a:p>
        </p:txBody>
      </p:sp>
      <p:sp>
        <p:nvSpPr>
          <p:cNvPr id="20" name="Shape 14"/>
          <p:cNvSpPr/>
          <p:nvPr/>
        </p:nvSpPr>
        <p:spPr>
          <a:xfrm>
            <a:off x="3566160" y="4169664"/>
            <a:ext cx="2212848" cy="0"/>
          </a:xfrm>
          <a:prstGeom prst="line">
            <a:avLst/>
          </a:prstGeom>
          <a:noFill/>
          <a:ln w="12700">
            <a:solidFill>
              <a:srgbClr val="DCE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3566160" y="42793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±0,5°C · ±2% RH · single-wire</a:t>
            </a:r>
            <a:endParaRPr lang="en-US" sz="980" dirty="0"/>
          </a:p>
        </p:txBody>
      </p:sp>
      <p:sp>
        <p:nvSpPr>
          <p:cNvPr id="22" name="Shape 16"/>
          <p:cNvSpPr/>
          <p:nvPr/>
        </p:nvSpPr>
        <p:spPr>
          <a:xfrm>
            <a:off x="6181344" y="1554480"/>
            <a:ext cx="2615184" cy="397764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6382512" y="1755648"/>
            <a:ext cx="2212848" cy="1417320"/>
          </a:xfrm>
          <a:prstGeom prst="roundRect">
            <a:avLst>
              <a:gd name="adj" fmla="val 4516"/>
            </a:avLst>
          </a:prstGeom>
          <a:solidFill>
            <a:srgbClr val="F2F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123176" y="21031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/home/claude/proj/icons/tin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2276856"/>
            <a:ext cx="384048" cy="384048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382512" y="3328416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/home/claude/proj/icons/tin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438144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58584" y="334670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Senzor capacitiv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6382512" y="38404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Umiditate a solului</a:t>
            </a:r>
            <a:endParaRPr lang="en-US" sz="980" dirty="0"/>
          </a:p>
        </p:txBody>
      </p:sp>
      <p:sp>
        <p:nvSpPr>
          <p:cNvPr id="30" name="Shape 22"/>
          <p:cNvSpPr/>
          <p:nvPr/>
        </p:nvSpPr>
        <p:spPr>
          <a:xfrm>
            <a:off x="6382512" y="4169664"/>
            <a:ext cx="2212848" cy="0"/>
          </a:xfrm>
          <a:prstGeom prst="line">
            <a:avLst/>
          </a:prstGeom>
          <a:noFill/>
          <a:ln w="12700">
            <a:solidFill>
              <a:srgbClr val="DCE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6382512" y="42793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3,3–5,5 V · ieșire analogică</a:t>
            </a:r>
            <a:endParaRPr lang="en-US" sz="980" dirty="0"/>
          </a:p>
        </p:txBody>
      </p:sp>
      <p:sp>
        <p:nvSpPr>
          <p:cNvPr id="32" name="Shape 24"/>
          <p:cNvSpPr/>
          <p:nvPr/>
        </p:nvSpPr>
        <p:spPr>
          <a:xfrm>
            <a:off x="8997696" y="1554480"/>
            <a:ext cx="2615184" cy="397764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9198864" y="1755648"/>
            <a:ext cx="2212848" cy="1417320"/>
          </a:xfrm>
          <a:prstGeom prst="roundRect">
            <a:avLst>
              <a:gd name="adj" fmla="val 4516"/>
            </a:avLst>
          </a:prstGeom>
          <a:solidFill>
            <a:srgbClr val="F2F6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6" descr="/home/claude/proj/images/img-014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81744" y="1865376"/>
            <a:ext cx="1847088" cy="1207008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9198864" y="3328416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7" descr="/home/claude/proj/icons/sun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8592" y="3438144"/>
            <a:ext cx="256032" cy="25603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774936" y="334670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BH1750</a:t>
            </a:r>
            <a:endParaRPr lang="en-US" sz="1350" dirty="0"/>
          </a:p>
        </p:txBody>
      </p:sp>
      <p:sp>
        <p:nvSpPr>
          <p:cNvPr id="38" name="Text 28"/>
          <p:cNvSpPr/>
          <p:nvPr/>
        </p:nvSpPr>
        <p:spPr>
          <a:xfrm>
            <a:off x="9198864" y="38404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Intensitate luminoasă</a:t>
            </a:r>
            <a:endParaRPr lang="en-US" sz="980" dirty="0"/>
          </a:p>
        </p:txBody>
      </p:sp>
      <p:sp>
        <p:nvSpPr>
          <p:cNvPr id="39" name="Shape 29"/>
          <p:cNvSpPr/>
          <p:nvPr/>
        </p:nvSpPr>
        <p:spPr>
          <a:xfrm>
            <a:off x="9198864" y="4169664"/>
            <a:ext cx="2212848" cy="0"/>
          </a:xfrm>
          <a:prstGeom prst="line">
            <a:avLst/>
          </a:prstGeom>
          <a:noFill/>
          <a:ln w="12700">
            <a:solidFill>
              <a:srgbClr val="DCE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/>
          <p:nvPr/>
        </p:nvSpPr>
        <p:spPr>
          <a:xfrm>
            <a:off x="9198864" y="42793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0,5–4 lx/bit · I2C · până la 65 535 lx</a:t>
            </a:r>
            <a:endParaRPr lang="en-US" sz="980" dirty="0"/>
          </a:p>
        </p:txBody>
      </p:sp>
      <p:sp>
        <p:nvSpPr>
          <p:cNvPr id="41" name="Shape 31"/>
          <p:cNvSpPr/>
          <p:nvPr/>
        </p:nvSpPr>
        <p:spPr>
          <a:xfrm>
            <a:off x="548640" y="5687568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EAF3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2"/>
          <p:cNvSpPr/>
          <p:nvPr/>
        </p:nvSpPr>
        <p:spPr>
          <a:xfrm>
            <a:off x="777240" y="57607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Interconectare: </a:t>
            </a: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→ GPIO23 (One-Wire)  ·  Senzor sol → GPIO35 / ADC1  ·  BH1750 → GPIO21/22 (I2C)  ·  </a:t>
            </a:r>
            <a:r>
              <a:rPr lang="ro-RO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100" dirty="0" err="1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limentare</a:t>
            </a: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comună 3,3 V</a:t>
            </a:r>
            <a:r>
              <a:rPr lang="ro-RO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ro-RO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comun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46" name="Picture 45" descr="SEN0193 DFROBOT - Senzor: umiditate | pentru sol,capacitiv; analogică;  3,3÷5VDC; DF-SEN0193 | Transfer Multisort Elektronik România">
            <a:extLst>
              <a:ext uri="{FF2B5EF4-FFF2-40B4-BE49-F238E27FC236}">
                <a16:creationId xmlns:a16="http://schemas.microsoft.com/office/drawing/2014/main" id="{F0C0CAEA-D4B5-0365-BAE1-C78DB180A16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2169" b="2701"/>
          <a:stretch>
            <a:fillRect/>
          </a:stretch>
        </p:blipFill>
        <p:spPr>
          <a:xfrm>
            <a:off x="6544056" y="1865825"/>
            <a:ext cx="1889760" cy="12065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HARDWARE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electrică de </a:t>
            </a:r>
            <a:r>
              <a:rPr lang="en-US" sz="3200" b="1" dirty="0" err="1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interconectare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5236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roj/images/img-0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755648"/>
            <a:ext cx="699516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486400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realizată în mediul EasyEDA — interconectarea ESP32 cu senzorii de achiziție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0" y="1600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Principii de proiectare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0" y="2167128"/>
            <a:ext cx="91440" cy="91440"/>
          </a:xfrm>
          <a:prstGeom prst="ellipse">
            <a:avLst/>
          </a:prstGeom>
          <a:solidFill>
            <a:srgbClr val="5A9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458200" y="215569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Masă comună (GND) pentru toți senzorii și ESP32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8229600" y="3063240"/>
            <a:ext cx="91440" cy="91440"/>
          </a:xfrm>
          <a:prstGeom prst="ellipse">
            <a:avLst/>
          </a:prstGeom>
          <a:solidFill>
            <a:srgbClr val="5A9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458200" y="303123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Senzorul de sol pe canalul ADC1 (GPIO35), singurul funcțional cu Wi-Fi activ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229600" y="3959352"/>
            <a:ext cx="91440" cy="91440"/>
          </a:xfrm>
          <a:prstGeom prst="ellipse">
            <a:avLst/>
          </a:prstGeom>
          <a:solidFill>
            <a:srgbClr val="5A9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458200" y="39273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Magistrală I2C partajată (SDA/SCL) pentru BH1750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229600" y="4855464"/>
            <a:ext cx="91440" cy="91440"/>
          </a:xfrm>
          <a:prstGeom prst="ellipse">
            <a:avLst/>
          </a:prstGeom>
          <a:solidFill>
            <a:srgbClr val="5A9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458200" y="4822877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Alimentare unică la 3,3 V, compatibilă cu nivelurile logice ale ESP32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HARDWARE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Firmware-ul ESP32 (Arduino IDE)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Codul, dezvoltat în C/C++, citește periodic senzorii și publică datele asincron prin MQTT, fără a bloca execuția firmware-ului.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1E2A1B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240280"/>
            <a:ext cx="100584" cy="100584"/>
          </a:xfrm>
          <a:prstGeom prst="ellipse">
            <a:avLst/>
          </a:prstGeom>
          <a:solidFill>
            <a:srgbClr val="E06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50976" y="2240280"/>
            <a:ext cx="100584" cy="100584"/>
          </a:xfrm>
          <a:prstGeom prst="ellipse">
            <a:avLst/>
          </a:prstGeom>
          <a:solidFill>
            <a:srgbClr val="E5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52144" y="2240280"/>
            <a:ext cx="100584" cy="100584"/>
          </a:xfrm>
          <a:prstGeom prst="ellipse">
            <a:avLst/>
          </a:prstGeom>
          <a:solidFill>
            <a:srgbClr val="5FB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4892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setup_wifi()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WiFi.begin(ssid, password);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(WiFi.status() != WL_CONNECTED)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delay(500);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Serial.println("WiFi conectat!");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dht.begin();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Wire.begin(21, 22);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lightMeter.begin(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BH1750::CONTINUOUS_HIGH_RES_MODE);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setup_wifi();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client.setServer(mqtt_server, 1883);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205740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1E2A1B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2240280"/>
            <a:ext cx="100584" cy="100584"/>
          </a:xfrm>
          <a:prstGeom prst="ellipse">
            <a:avLst/>
          </a:prstGeom>
          <a:solidFill>
            <a:srgbClr val="E06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01968" y="2240280"/>
            <a:ext cx="100584" cy="100584"/>
          </a:xfrm>
          <a:prstGeom prst="ellipse">
            <a:avLst/>
          </a:prstGeom>
          <a:solidFill>
            <a:srgbClr val="E5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03136" y="2240280"/>
            <a:ext cx="100584" cy="100584"/>
          </a:xfrm>
          <a:prstGeom prst="ellipse">
            <a:avLst/>
          </a:prstGeom>
          <a:solidFill>
            <a:srgbClr val="5FB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73952" y="2514600"/>
            <a:ext cx="4892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(!client.connected()) reconnect_mqtt();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client.loop();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umiditateAer = dht.readHumidity();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temperaturaAer = dht.readTemperature();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solBrut = analogRead(SOIL_PIN);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luminaLux = lightMeter.readLightLevel();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buffer[10];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dtostrf(temperaturaAer, 4, 1, buffer);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client.publish(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"smartgarden/temperatura", buffer);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itoa(solBrut, buffer, 10);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client.publish("smartgarden/sol", buffer);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COMUNICAȚIE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Platforma Node-RED — middleware &amp; interfață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30936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6D4"/>
            </a:solidFill>
            <a:prstDash val="solid"/>
          </a:ln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roj/images/img-02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783080"/>
            <a:ext cx="585216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1663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Flow-ul Node-RED: recepție senzori (MQTT) · analiză MATLAB (HTTP) · algoritm de decizie · dashboard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086600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 zone funcționale ale flow-ului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086600" y="205740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proj/icons/netwo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217627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26680" y="2039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Recepție senzori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26680" y="23317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noduri mqtt-in, stocare în contextul global prin flow.set()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086600" y="31089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proj/icons/camer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3227832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26680" y="30906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Recepție analiză vizuală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726680" y="33832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http-in pe portul 1880, parsare JSON de la MATLAB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086600" y="41605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proj/icons/br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472" y="4279392"/>
            <a:ext cx="265176" cy="2651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26680" y="41422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Decizie &amp; UI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726680" y="44348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 function central → ui_gauge, ui_chart, ui_template prin WebSocket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086600" y="5257800"/>
            <a:ext cx="4553712" cy="594360"/>
          </a:xfrm>
          <a:prstGeom prst="roundRect">
            <a:avLst>
              <a:gd name="adj" fmla="val 12308"/>
            </a:avLst>
          </a:prstGeom>
          <a:solidFill>
            <a:srgbClr val="EAF3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7269480" y="5303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(RFC 6455) → actualizare instantanee a interfeței, fără polling periodic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PROCESARE DE IMAGINI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Segmentarea K-means în spațiul RGB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Datele fizice nu reflectă starea fiziologică a țesutului vegetal. Un script MATLAB izolează planta din imagine și clasifică pixelii pe baza culorii dominante, folosind NC = 6 clustere.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3880" y="236829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roj/icons/palet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08" y="247802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8240" y="2350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Mască HSV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8240" y="26151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≥ 0,30 și V ≥ 0,10 — elimină fundalul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563880" y="314553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proj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08" y="325526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8240" y="3127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Clusterizare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58240" y="33924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Inițializare din culori unice, compactate pe 24 biți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563880" y="39227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proj/icons/balanc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08" y="403250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58240" y="39044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Convergență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58240" y="41696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Distanța euclidiană RGB, max. 50 iterații</a:t>
            </a:r>
            <a:endParaRPr lang="en-US" sz="1030" dirty="0"/>
          </a:p>
        </p:txBody>
      </p:sp>
      <p:sp>
        <p:nvSpPr>
          <p:cNvPr id="17" name="Shape 12"/>
          <p:cNvSpPr/>
          <p:nvPr/>
        </p:nvSpPr>
        <p:spPr>
          <a:xfrm>
            <a:off x="548640" y="5065776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EAF3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49808" y="5157216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= 6 clustere: </a:t>
            </a: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optim — captează </a:t>
            </a:r>
            <a:r>
              <a:rPr lang="en-US" sz="1100" dirty="0" err="1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tranziții</a:t>
            </a:r>
            <a:r>
              <a:rPr lang="en-US" sz="110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fine fără a fragmenta excesiv suprafața foliară.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55080" y="1463040"/>
            <a:ext cx="5285232" cy="4846320"/>
          </a:xfrm>
          <a:prstGeom prst="roundRect">
            <a:avLst>
              <a:gd name="adj" fmla="val 1698"/>
            </a:avLst>
          </a:prstGeom>
          <a:solidFill>
            <a:srgbClr val="1E2A1B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56248" y="1645920"/>
            <a:ext cx="100584" cy="100584"/>
          </a:xfrm>
          <a:prstGeom prst="ellipse">
            <a:avLst/>
          </a:prstGeom>
          <a:solidFill>
            <a:srgbClr val="E06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757416" y="1645920"/>
            <a:ext cx="100584" cy="100584"/>
          </a:xfrm>
          <a:prstGeom prst="ellipse">
            <a:avLst/>
          </a:prstGeom>
          <a:solidFill>
            <a:srgbClr val="E5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958584" y="1645920"/>
            <a:ext cx="100584" cy="100584"/>
          </a:xfrm>
          <a:prstGeom prst="ellipse">
            <a:avLst/>
          </a:prstGeom>
          <a:solidFill>
            <a:srgbClr val="5FB8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629400" y="1819656"/>
            <a:ext cx="47365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 = 6;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R*256^2 + G*256 + B;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culori = sort(V);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culori = culori(diff(culori) &gt; 0);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k = 1:NC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dist(:,k) = sqrt((R-RC(k)).^2 + ...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(G-GC(k)).^2 + (B-BC(k)).^2);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[~, idx] = min(dist, [], 2);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 = idx;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k = 1:NC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len = sum(C==k);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new_RC(k) = round(sum((C==k).*R)/len);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dif = sum(abs(new_RC-RC)) + ...;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dif &lt; NC || iter &gt; 50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PROCESARE DE IMAGINI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Imaginea originală vs. segmentarea K-means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46120" cy="443484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roj/images/img-02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9808" y="1719072"/>
            <a:ext cx="283464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54681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originală</a:t>
            </a:r>
            <a:endParaRPr lang="en-US" sz="1150" dirty="0"/>
          </a:p>
        </p:txBody>
      </p:sp>
      <p:pic>
        <p:nvPicPr>
          <p:cNvPr id="7" name="Image 1" descr="/home/claude/proj/icons/arrow_right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3611880"/>
            <a:ext cx="411480" cy="411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26280" y="1554480"/>
            <a:ext cx="3246120" cy="4434840"/>
          </a:xfrm>
          <a:prstGeom prst="roundRect">
            <a:avLst>
              <a:gd name="adj" fmla="val 2817"/>
            </a:avLst>
          </a:prstGeom>
          <a:solidFill>
            <a:srgbClr val="1B3B1E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2" descr="/home/claude/proj/images/img-029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27448" y="1719072"/>
            <a:ext cx="2834640" cy="3703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27448" y="54681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9D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clustere · fundal eliminat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80010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Distribuție cromatică rezultată</a:t>
            </a:r>
            <a:endParaRPr lang="en-US" sz="14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7863840" y="1965960"/>
          <a:ext cx="3931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Shape 7"/>
          <p:cNvSpPr/>
          <p:nvPr/>
        </p:nvSpPr>
        <p:spPr>
          <a:xfrm>
            <a:off x="7863840" y="489204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EAF3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8046720" y="4983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Healthy
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23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87,1% țesut verde ≥ prag critic de 60%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INTERFAȚĂ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Dashboard-ul interactiv Node-RED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03720" cy="4389120"/>
          </a:xfrm>
          <a:prstGeom prst="roundRect">
            <a:avLst>
              <a:gd name="adj" fmla="val 2083"/>
            </a:avLst>
          </a:prstGeom>
          <a:solidFill>
            <a:srgbClr val="111111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35240" y="1572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Elemente vizuale ale interfeței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35240" y="205740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proj/icons/t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8" y="216712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0" y="2039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Moisture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229600" y="22951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sferic (Liquid Gauge)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635240" y="2679192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proj/icons/therm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278892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0" y="26609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229600" y="29169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termometru vertical gradual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635240" y="3300984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proj/icons/su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341071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0" y="32826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Brightness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8229600" y="35387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 24h pe scară logaritmică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635240" y="3922776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/home/claude/proj/icons/seedlin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68" y="403250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29600" y="3904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Avatarul plantei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8229600" y="41605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animat, expresie adaptivă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635240" y="4544568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/home/claude/proj/icons/chartlin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4654296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29600" y="4526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Assistant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8229600" y="47823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recomandări contextuale live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7635240" y="52578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AF3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/>
          <p:nvPr/>
        </p:nvSpPr>
        <p:spPr>
          <a:xfrm>
            <a:off x="7772400" y="52943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Actualizare instantanee prin WebSocket — fără reîncărcarea paginii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4DC7956-D989-FEB7-EF04-037BEEB818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371" y="2034015"/>
            <a:ext cx="6784258" cy="3223785"/>
          </a:xfrm>
          <a:prstGeom prst="rect">
            <a:avLst/>
          </a:prstGeom>
        </p:spPr>
      </p:pic>
      <p:sp>
        <p:nvSpPr>
          <p:cNvPr id="37" name="Text 29">
            <a:extLst>
              <a:ext uri="{FF2B5EF4-FFF2-40B4-BE49-F238E27FC236}">
                <a16:creationId xmlns:a16="http://schemas.microsoft.com/office/drawing/2014/main" id="{AE0AD532-CFE6-78AA-4F5D-865C555C0747}"/>
              </a:ext>
            </a:extLst>
          </p:cNvPr>
          <p:cNvSpPr/>
          <p:nvPr/>
        </p:nvSpPr>
        <p:spPr>
          <a:xfrm>
            <a:off x="1509055" y="5175504"/>
            <a:ext cx="4910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Reacția asistentului virtual în scenariul de stres luminos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TESTARE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Rezultate experimentale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1B3B1E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roj/icons/t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7465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45,9%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9808" y="24231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Umiditate sol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9856" y="160020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1B3B1E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21024" y="180136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proj/icons/therm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1920240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24528" y="17465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27,3°C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621024" y="24231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Temperatură aer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91072" y="160020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1B3B1E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492240" y="180136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proj/icons/su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1920240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95744" y="17465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22 259 lx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492240" y="24231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Luminozitate de vârf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62288" y="160020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1B3B1E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363456" y="1801368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proj/icons/leaf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328" y="1920240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66960" y="17465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87,1%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363456" y="24231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Țesut verde sănătos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Scenarii de testare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proj/icons/clipbo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794760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97280" y="36758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Echilibru microclimatic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097280" y="3941064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Rulare continuă 30 min · stare „Healthy” stabilă confirmată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48640" y="436168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/home/claude/proj/icons/clipbo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453128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97280" y="43342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 termic / luminos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1097280" y="45994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Vârf de 22 259,5 lx · scalare logaritmică fără saturație vizuală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548640" y="502005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6" descr="/home/claude/proj/icons/clipbo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111496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97280" y="49926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Degradare foliară vizibilă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1097280" y="5257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Validarea robusteții pragurilor Hue pe specimen patologic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6400800" y="3291840"/>
            <a:ext cx="5239512" cy="2743200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/>
          <a:effectLst>
            <a:outerShdw blurRad="101600" dist="38100" dir="5400000" algn="bl" rotWithShape="0">
              <a:srgbClr val="1B3B1E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2B11319-2C44-F806-8B2B-F621156FC7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5037" y="3421218"/>
            <a:ext cx="5191038" cy="24112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234A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9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Rezultate &amp; direcții viitoare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obiectivele propuse au fost atinse: calibrarea hardware, comunicația MQTT stabilă, segmentarea K-means validată și un sistem de decizie funcțional, </a:t>
            </a:r>
            <a:r>
              <a:rPr lang="ro-RO" sz="1300" dirty="0">
                <a:solidFill>
                  <a:srgbClr val="D8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r>
              <a:rPr lang="en-US" sz="1300" dirty="0">
                <a:solidFill>
                  <a:srgbClr val="D8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1300" dirty="0">
                <a:solidFill>
                  <a:srgbClr val="D8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</a:t>
            </a:r>
            <a:r>
              <a:rPr lang="en-US" sz="1300" dirty="0">
                <a:solidFill>
                  <a:srgbClr val="D8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tr-un dashboard operațional în timp real.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Direcții viitoare de dezvoltare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proj/icons/microch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96265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8163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Migrare pe Raspberry Pi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34440" y="30906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F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Stocare și procesare locală extinsă la nodul periferic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2834640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proj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96265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20840" y="28163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Rețele neuronale (CNN)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720840" y="30906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F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pentru detecția patologiilor specifice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4005072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proj/icons/co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13308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9867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în buclă închisă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234440" y="42611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F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Pompă de irigare, LED-uri Grow Light, ventilator automat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035040" y="4005072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proj/icons/camer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413308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20840" y="39867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Achiziție automată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720840" y="42611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F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Cameră CSI dedicată, captură periodică fără intervenție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5175504"/>
            <a:ext cx="530352" cy="530352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/home/claude/proj/icons/mobi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" y="530352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34440" y="51572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Notificări la distanță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234440" y="54315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FC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Alertare push prin Telegram Bot API / Pushover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234A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3840480"/>
            <a:ext cx="5029200" cy="5029200"/>
          </a:xfrm>
          <a:prstGeom prst="ellipse">
            <a:avLst/>
          </a:prstGeom>
          <a:solidFill>
            <a:srgbClr val="234A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roj/icons/leaf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19202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971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Vă mulțumesc pentru atenție!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37947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Întrebări &amp; discuții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632808" y="4572000"/>
            <a:ext cx="2926080" cy="0"/>
          </a:xfrm>
          <a:prstGeom prst="line">
            <a:avLst/>
          </a:prstGeom>
          <a:noFill/>
          <a:ln w="12700">
            <a:solidFill>
              <a:srgbClr val="3C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71600" y="480060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embedded de monitorizare a plantelor prin analiza parametrilor de mediu și procesare de imagini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371600" y="5193792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Coța Emilia Elena</a:t>
            </a:r>
            <a:r>
              <a:rPr lang="en-US" sz="1200" dirty="0">
                <a:solidFill>
                  <a:srgbClr val="9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Coordonator științific: Conf. Dr. Ing. Zbancioc Marius-Dan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1450</Words>
  <Application>Microsoft Office PowerPoint</Application>
  <PresentationFormat>Widescreen</PresentationFormat>
  <Paragraphs>253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embedded de monitorizare a plantelor</dc:title>
  <dc:subject>PptxGenJS Presentation</dc:subject>
  <dc:creator>Coța Emilia Elena</dc:creator>
  <cp:lastModifiedBy>Emilia-Elena Coța</cp:lastModifiedBy>
  <cp:revision>2</cp:revision>
  <dcterms:created xsi:type="dcterms:W3CDTF">2026-07-07T15:46:16Z</dcterms:created>
  <dcterms:modified xsi:type="dcterms:W3CDTF">2026-07-07T17:36:17Z</dcterms:modified>
</cp:coreProperties>
</file>